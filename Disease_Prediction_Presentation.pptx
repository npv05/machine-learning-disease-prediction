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1822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Greet the panel. Introduce the project title, your name, USN, guide, and department. One-line hook: this project predicts multiple diseases early using both clinical data and mutation-aware genomic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problem, objective and solution in one breath, then point to the workflow graphic: raw data flows in, gets cleaned, mutation-aware features are extracted, the hybrid model trains, and a prediction comes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why current systems fall short: manual and clinical-only, blind to genomic mutation data, struggle with high-dimensional gene expression data, and lack real-time backend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five core advantages briefly, then walk left to right through the workflow: data collection, preprocessing, mutation-aware feature extraction, the hybrid Random Forest + XGBoost model, multi-disease prediction, and finally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modules form the data pipeline: collect raw datasets, clean them, engineer meaningful features, and extract mutation-aware statistical features from gene expression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Moving to the modeling side: anomaly detection cleans the feature set further, models are trained, combined into a hybrid Random Forest + XGBoost ensemble, and used by the prediction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layer: multi-disease prediction, evaluation metrics, visualization, the Streamlit dashboard, and the FastAPI backend that ties the frontend to the models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dashboard first — the entry point where users pick a disease. Then the prediction page, where patient details are entered for the model to analyze.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result page shows the predicted outcome with a confidence score. The performance graph compares accuracy across all four disease models — breast cancer performs best at 95.6%.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achievement, the core tech stack, the practical benefit of earlier detection, and who this system serves: clinicians, researchers, and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roadmap: chatbot and voice assistant for accessibility, a mobile app, cloud deployment, real-time monitoring, deeper genomic mutation modeling, and personalized healthcare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5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proj/icons/dna_whit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6126480" y="1005840"/>
            <a:ext cx="3931920" cy="4846320"/>
          </a:xfrm>
          <a:prstGeom prst="rect">
            <a:avLst/>
          </a:prstGeom>
        </p:spPr>
      </p:pic>
      <p:pic>
        <p:nvPicPr>
          <p:cNvPr id="3" name="Image 1" descr="/home/claude/pptx_proj/icons/heartbeat_white.png"/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-640080" y="-548640"/>
            <a:ext cx="2926080" cy="29260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6" name="Text 2"/>
          <p:cNvSpPr/>
          <p:nvPr/>
        </p:nvSpPr>
        <p:spPr>
          <a:xfrm>
            <a:off x="640080" y="1143000"/>
            <a:ext cx="6675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Learning-Based Disease Prediction with Mutation Awareness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658368" y="2788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intelligent, mutation-aware ML platform for early multi-disease healthcare prediction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3401568"/>
            <a:ext cx="7863840" cy="1536192"/>
          </a:xfrm>
          <a:prstGeom prst="roundRect">
            <a:avLst>
              <a:gd name="adj" fmla="val 476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96112" y="3547871"/>
            <a:ext cx="2331720" cy="107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b="1" kern="0" spc="100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
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Nandini P V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410712" y="3547871"/>
            <a:ext cx="2331720" cy="1171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b="1" kern="0" spc="100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USN
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U18GH23S0113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925312" y="3547872"/>
            <a:ext cx="23317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b="1" kern="0" spc="100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
</a:t>
            </a:r>
            <a:endParaRPr lang="en-US" sz="9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Prathibha P 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3" name="Image 0" descr="/home/claude/pptx_proj/icons/bulb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10896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7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94360" y="1271016"/>
            <a:ext cx="201168" cy="201168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17957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3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diagnosis is slow and misses hidden genomic patterns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" y="1760220"/>
            <a:ext cx="201168" cy="201168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6687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r>
              <a:rPr lang="en-US" sz="13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intelligent system for early, multi-disease prediction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" y="2249424"/>
            <a:ext cx="201168" cy="201168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15798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r>
              <a:rPr lang="en-US" sz="13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combining clinical data with mutation-aware analysis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360" y="2738628"/>
            <a:ext cx="201168" cy="201168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264718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  </a:t>
            </a:r>
            <a:r>
              <a:rPr lang="en-US" sz="13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Scikit-learn, XGBoost, FastAPI, Streamlit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" y="3227832"/>
            <a:ext cx="201168" cy="201168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13639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Predicted:  </a:t>
            </a:r>
            <a:r>
              <a:rPr lang="en-US" sz="13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cancer, heart disease, diabetes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" y="3717036"/>
            <a:ext cx="201168" cy="201168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362559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Mutation-Aware Feature:  </a:t>
            </a:r>
            <a:r>
              <a:rPr lang="en-US" sz="13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expression variation flags biological abnormalities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4360" y="4206240"/>
            <a:ext cx="201168" cy="201168"/>
          </a:xfrm>
          <a:prstGeom prst="ellipse">
            <a:avLst/>
          </a:prstGeom>
          <a:solidFill>
            <a:srgbClr val="2FBFA0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41148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 </a:t>
            </a:r>
            <a:r>
              <a:rPr lang="en-US" sz="13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real-time, multi-disease healthcare decision support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355080" y="1051560"/>
            <a:ext cx="2423160" cy="3794760"/>
          </a:xfrm>
          <a:prstGeom prst="roundRect">
            <a:avLst>
              <a:gd name="adj" fmla="val 3774"/>
            </a:avLst>
          </a:prstGeom>
          <a:solidFill>
            <a:srgbClr val="F2F9F8"/>
          </a:solidFill>
          <a:ln/>
        </p:spPr>
      </p:sp>
      <p:sp>
        <p:nvSpPr>
          <p:cNvPr id="21" name="Text 18"/>
          <p:cNvSpPr/>
          <p:nvPr/>
        </p:nvSpPr>
        <p:spPr>
          <a:xfrm>
            <a:off x="6355080" y="12070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566660" y="1819656"/>
            <a:ext cx="0" cy="2414016"/>
          </a:xfrm>
          <a:prstGeom prst="line">
            <a:avLst/>
          </a:prstGeom>
          <a:noFill/>
          <a:ln w="19050">
            <a:solidFill>
              <a:srgbClr val="0F8B8D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7374636" y="162763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8B8D"/>
            </a:solidFill>
            <a:prstDash val="solid"/>
          </a:ln>
        </p:spPr>
      </p:sp>
      <p:pic>
        <p:nvPicPr>
          <p:cNvPr id="24" name="Image 1" descr="/home/claude/pptx_proj/icons/databas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788" y="1700784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355080" y="203911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7374636" y="2231136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8B8D"/>
            </a:solidFill>
            <a:prstDash val="solid"/>
          </a:ln>
        </p:spPr>
      </p:sp>
      <p:pic>
        <p:nvPicPr>
          <p:cNvPr id="27" name="Image 2" descr="/home/claude/pptx_proj/icons/filter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7788" y="2304288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55080" y="264261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7374636" y="283464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8B8D"/>
            </a:solidFill>
            <a:prstDash val="solid"/>
          </a:ln>
        </p:spPr>
      </p:sp>
      <p:pic>
        <p:nvPicPr>
          <p:cNvPr id="30" name="Image 3" descr="/home/claude/pptx_proj/icons/dna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7788" y="2907792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355080" y="32461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Features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7374636" y="343814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8B8D"/>
            </a:solidFill>
            <a:prstDash val="solid"/>
          </a:ln>
        </p:spPr>
      </p:sp>
      <p:pic>
        <p:nvPicPr>
          <p:cNvPr id="33" name="Image 4" descr="/home/claude/pptx_proj/icons/brain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7788" y="3511296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355080" y="384962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ML Model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7374636" y="4041648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8B8D"/>
            </a:solidFill>
            <a:prstDash val="solid"/>
          </a:ln>
        </p:spPr>
      </p:sp>
      <p:pic>
        <p:nvPicPr>
          <p:cNvPr id="36" name="Image 5" descr="/home/claude/pptx_proj/icons/check_mi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7788" y="4114800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355080" y="445312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Result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C0574C"/>
          </a:solidFill>
          <a:ln/>
        </p:spPr>
      </p:sp>
      <p:pic>
        <p:nvPicPr>
          <p:cNvPr id="3" name="Image 0" descr="/home/claude/pptx_proj/icons/shield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10896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7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— Limitations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3886200" cy="1691640"/>
          </a:xfrm>
          <a:prstGeom prst="roundRect">
            <a:avLst>
              <a:gd name="adj" fmla="val 4324"/>
            </a:avLst>
          </a:prstGeom>
          <a:solidFill>
            <a:srgbClr val="FBEEEC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490472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7394A">
                <a:alpha val="14000"/>
              </a:srgbClr>
            </a:outerShdw>
          </a:effectLst>
        </p:spPr>
      </p:sp>
      <p:pic>
        <p:nvPicPr>
          <p:cNvPr id="8" name="Image 1" descr="/home/claude/pptx_proj/icons/usermd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600200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90472" y="143560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Clinical-Only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04672" y="210312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manual diagnosis and basic clinical parameters alone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09160" y="1234440"/>
            <a:ext cx="3886200" cy="1691640"/>
          </a:xfrm>
          <a:prstGeom prst="roundRect">
            <a:avLst>
              <a:gd name="adj" fmla="val 4324"/>
            </a:avLst>
          </a:prstGeom>
          <a:solidFill>
            <a:srgbClr val="FBEEEC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965192" y="1490472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7394A">
                <a:alpha val="14000"/>
              </a:srgbClr>
            </a:outerShdw>
          </a:effectLst>
        </p:spPr>
      </p:sp>
      <p:pic>
        <p:nvPicPr>
          <p:cNvPr id="13" name="Image 2" descr="/home/claude/pptx_proj/icons/unlink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600200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50992" y="143560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Genomic Insight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965192" y="210312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gene expression and mutation-related patterns entirely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200400"/>
            <a:ext cx="3886200" cy="1691640"/>
          </a:xfrm>
          <a:prstGeom prst="roundRect">
            <a:avLst>
              <a:gd name="adj" fmla="val 4324"/>
            </a:avLst>
          </a:prstGeom>
          <a:solidFill>
            <a:srgbClr val="FBEEEC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04672" y="3456432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7394A">
                <a:alpha val="14000"/>
              </a:srgbClr>
            </a:outerShdw>
          </a:effectLst>
        </p:spPr>
      </p:sp>
      <p:pic>
        <p:nvPicPr>
          <p:cNvPr id="18" name="Image 3" descr="/home/claude/pptx_proj/icons/exclaim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566160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90472" y="34015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Data Struggles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804672" y="406908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efficiently process large gene expression datasets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709160" y="3200400"/>
            <a:ext cx="3886200" cy="1691640"/>
          </a:xfrm>
          <a:prstGeom prst="roundRect">
            <a:avLst>
              <a:gd name="adj" fmla="val 4324"/>
            </a:avLst>
          </a:prstGeom>
          <a:solidFill>
            <a:srgbClr val="FBEEEC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965192" y="3456432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7394A">
                <a:alpha val="14000"/>
              </a:srgbClr>
            </a:outerShdw>
          </a:effectLst>
        </p:spPr>
      </p:sp>
      <p:pic>
        <p:nvPicPr>
          <p:cNvPr id="23" name="Image 4" descr="/home/claude/pptx_proj/icons/shield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566160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650992" y="34015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Integration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4965192" y="4069080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tools with no backend API or automation support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3" name="Image 0" descr="/home/claude/pptx_proj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10896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7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12064" y="1170432"/>
            <a:ext cx="1536192" cy="1051560"/>
          </a:xfrm>
          <a:prstGeom prst="roundRect">
            <a:avLst>
              <a:gd name="adj" fmla="val 7826"/>
            </a:avLst>
          </a:prstGeom>
          <a:solidFill>
            <a:srgbClr val="F2F9F8"/>
          </a:solidFill>
          <a:ln/>
        </p:spPr>
      </p:sp>
      <p:pic>
        <p:nvPicPr>
          <p:cNvPr id="7" name="Image 1" descr="/home/claude/pptx_proj/icons/dna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1335024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7784" y="179222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Mutation-Aware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2157984" y="1170432"/>
            <a:ext cx="1536192" cy="1051560"/>
          </a:xfrm>
          <a:prstGeom prst="roundRect">
            <a:avLst>
              <a:gd name="adj" fmla="val 7826"/>
            </a:avLst>
          </a:prstGeom>
          <a:solidFill>
            <a:srgbClr val="F2F9F8"/>
          </a:solidFill>
          <a:ln/>
        </p:spPr>
      </p:sp>
      <p:pic>
        <p:nvPicPr>
          <p:cNvPr id="10" name="Image 2" descr="/home/claude/pptx_proj/icons/diagnose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912" y="1335024"/>
            <a:ext cx="402336" cy="4023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03704" y="179222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3803904" y="1170432"/>
            <a:ext cx="1536192" cy="1051560"/>
          </a:xfrm>
          <a:prstGeom prst="roundRect">
            <a:avLst>
              <a:gd name="adj" fmla="val 7826"/>
            </a:avLst>
          </a:prstGeom>
          <a:solidFill>
            <a:srgbClr val="F2F9F8"/>
          </a:solidFill>
          <a:ln/>
        </p:spPr>
      </p:sp>
      <p:pic>
        <p:nvPicPr>
          <p:cNvPr id="13" name="Image 3" descr="/home/claude/pptx_proj/icons/layers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1335024"/>
            <a:ext cx="402336" cy="40233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849624" y="179222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ML Model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5449824" y="1170432"/>
            <a:ext cx="1536192" cy="1051560"/>
          </a:xfrm>
          <a:prstGeom prst="roundRect">
            <a:avLst>
              <a:gd name="adj" fmla="val 7826"/>
            </a:avLst>
          </a:prstGeom>
          <a:solidFill>
            <a:srgbClr val="F2F9F8"/>
          </a:solidFill>
          <a:ln/>
        </p:spPr>
      </p:sp>
      <p:pic>
        <p:nvPicPr>
          <p:cNvPr id="16" name="Image 4" descr="/home/claude/pptx_proj/icons/server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752" y="1335024"/>
            <a:ext cx="402336" cy="40233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495544" y="179222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API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7095744" y="1170432"/>
            <a:ext cx="1536192" cy="1051560"/>
          </a:xfrm>
          <a:prstGeom prst="roundRect">
            <a:avLst>
              <a:gd name="adj" fmla="val 7826"/>
            </a:avLst>
          </a:prstGeom>
          <a:solidFill>
            <a:srgbClr val="F2F9F8"/>
          </a:solidFill>
          <a:ln/>
        </p:spPr>
      </p:sp>
      <p:pic>
        <p:nvPicPr>
          <p:cNvPr id="19" name="Image 5" descr="/home/claude/pptx_proj/icons/projdiag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2672" y="1335024"/>
            <a:ext cx="402336" cy="40233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141464" y="179222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&amp; Scalable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548640" y="2450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512064" y="2880360"/>
            <a:ext cx="1216152" cy="1600200"/>
          </a:xfrm>
          <a:prstGeom prst="roundRect">
            <a:avLst>
              <a:gd name="adj" fmla="val 6767"/>
            </a:avLst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  <a:effectLst>
            <a:outerShdw blurRad="50800" dist="127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882396" y="3044952"/>
            <a:ext cx="475488" cy="475488"/>
          </a:xfrm>
          <a:prstGeom prst="ellipse">
            <a:avLst/>
          </a:prstGeom>
          <a:solidFill>
            <a:srgbClr val="F2F9F8"/>
          </a:solidFill>
          <a:ln/>
        </p:spPr>
      </p:sp>
      <p:pic>
        <p:nvPicPr>
          <p:cNvPr id="24" name="Image 6" descr="/home/claude/pptx_proj/icons/database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692" y="3127248"/>
            <a:ext cx="310896" cy="31089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48640" y="363016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00" dirty="0"/>
          </a:p>
        </p:txBody>
      </p:sp>
      <p:pic>
        <p:nvPicPr>
          <p:cNvPr id="26" name="Image 7" descr="/home/claude/pptx_proj/icons/chevron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28216" y="3598164"/>
            <a:ext cx="164592" cy="164592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1892808" y="2880360"/>
            <a:ext cx="1216152" cy="1600200"/>
          </a:xfrm>
          <a:prstGeom prst="roundRect">
            <a:avLst>
              <a:gd name="adj" fmla="val 6767"/>
            </a:avLst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  <a:effectLst>
            <a:outerShdw blurRad="50800" dist="127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28" name="Shape 18"/>
          <p:cNvSpPr/>
          <p:nvPr/>
        </p:nvSpPr>
        <p:spPr>
          <a:xfrm>
            <a:off x="2263140" y="3044952"/>
            <a:ext cx="475488" cy="475488"/>
          </a:xfrm>
          <a:prstGeom prst="ellipse">
            <a:avLst/>
          </a:prstGeom>
          <a:solidFill>
            <a:srgbClr val="F2F9F8"/>
          </a:solidFill>
          <a:ln/>
        </p:spPr>
      </p:sp>
      <p:pic>
        <p:nvPicPr>
          <p:cNvPr id="29" name="Image 8" descr="/home/claude/pptx_proj/icons/filter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45436" y="3127248"/>
            <a:ext cx="310896" cy="310896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929384" y="363016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pic>
        <p:nvPicPr>
          <p:cNvPr id="31" name="Image 9" descr="/home/claude/pptx_proj/icons/chevron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08960" y="3598164"/>
            <a:ext cx="164592" cy="164592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3273552" y="2880360"/>
            <a:ext cx="1216152" cy="1600200"/>
          </a:xfrm>
          <a:prstGeom prst="roundRect">
            <a:avLst>
              <a:gd name="adj" fmla="val 6767"/>
            </a:avLst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  <a:effectLst>
            <a:outerShdw blurRad="50800" dist="127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33" name="Shape 21"/>
          <p:cNvSpPr/>
          <p:nvPr/>
        </p:nvSpPr>
        <p:spPr>
          <a:xfrm>
            <a:off x="3643884" y="3044952"/>
            <a:ext cx="475488" cy="475488"/>
          </a:xfrm>
          <a:prstGeom prst="ellipse">
            <a:avLst/>
          </a:prstGeom>
          <a:solidFill>
            <a:srgbClr val="F2F9F8"/>
          </a:solidFill>
          <a:ln/>
        </p:spPr>
      </p:sp>
      <p:pic>
        <p:nvPicPr>
          <p:cNvPr id="34" name="Image 10" descr="/home/claude/pptx_proj/icons/dna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180" y="3127248"/>
            <a:ext cx="310896" cy="310896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3310128" y="363016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Mutation-Aware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pic>
        <p:nvPicPr>
          <p:cNvPr id="36" name="Image 11" descr="/home/claude/pptx_proj/icons/chevron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9704" y="3598164"/>
            <a:ext cx="164592" cy="164592"/>
          </a:xfrm>
          <a:prstGeom prst="rect">
            <a:avLst/>
          </a:prstGeom>
        </p:spPr>
      </p:pic>
      <p:sp>
        <p:nvSpPr>
          <p:cNvPr id="37" name="Shape 23"/>
          <p:cNvSpPr/>
          <p:nvPr/>
        </p:nvSpPr>
        <p:spPr>
          <a:xfrm>
            <a:off x="4654296" y="2880360"/>
            <a:ext cx="1216152" cy="1600200"/>
          </a:xfrm>
          <a:prstGeom prst="roundRect">
            <a:avLst>
              <a:gd name="adj" fmla="val 6767"/>
            </a:avLst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  <a:effectLst>
            <a:outerShdw blurRad="50800" dist="127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38" name="Shape 24"/>
          <p:cNvSpPr/>
          <p:nvPr/>
        </p:nvSpPr>
        <p:spPr>
          <a:xfrm>
            <a:off x="5024628" y="3044952"/>
            <a:ext cx="475488" cy="475488"/>
          </a:xfrm>
          <a:prstGeom prst="ellipse">
            <a:avLst/>
          </a:prstGeom>
          <a:solidFill>
            <a:srgbClr val="F2F9F8"/>
          </a:solidFill>
          <a:ln/>
        </p:spPr>
      </p:sp>
      <p:pic>
        <p:nvPicPr>
          <p:cNvPr id="39" name="Image 12" descr="/home/claude/pptx_proj/icons/brain_te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6924" y="3127248"/>
            <a:ext cx="310896" cy="310896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4690872" y="363016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 + XGB)</a:t>
            </a:r>
            <a:endParaRPr lang="en-US" sz="1000" dirty="0"/>
          </a:p>
        </p:txBody>
      </p:sp>
      <p:pic>
        <p:nvPicPr>
          <p:cNvPr id="41" name="Image 13" descr="/home/claude/pptx_proj/icons/chevron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0448" y="3598164"/>
            <a:ext cx="164592" cy="164592"/>
          </a:xfrm>
          <a:prstGeom prst="rect">
            <a:avLst/>
          </a:prstGeom>
        </p:spPr>
      </p:pic>
      <p:sp>
        <p:nvSpPr>
          <p:cNvPr id="42" name="Shape 26"/>
          <p:cNvSpPr/>
          <p:nvPr/>
        </p:nvSpPr>
        <p:spPr>
          <a:xfrm>
            <a:off x="6035040" y="2880360"/>
            <a:ext cx="1216152" cy="1600200"/>
          </a:xfrm>
          <a:prstGeom prst="roundRect">
            <a:avLst>
              <a:gd name="adj" fmla="val 6767"/>
            </a:avLst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  <a:effectLst>
            <a:outerShdw blurRad="50800" dist="127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43" name="Shape 27"/>
          <p:cNvSpPr/>
          <p:nvPr/>
        </p:nvSpPr>
        <p:spPr>
          <a:xfrm>
            <a:off x="6405372" y="3044952"/>
            <a:ext cx="475488" cy="475488"/>
          </a:xfrm>
          <a:prstGeom prst="ellipse">
            <a:avLst/>
          </a:prstGeom>
          <a:solidFill>
            <a:srgbClr val="F2F9F8"/>
          </a:solidFill>
          <a:ln/>
        </p:spPr>
      </p:sp>
      <p:pic>
        <p:nvPicPr>
          <p:cNvPr id="44" name="Image 14" descr="/home/claude/pptx_proj/icons/diagnose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668" y="3127248"/>
            <a:ext cx="310896" cy="310896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6071616" y="363016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pic>
        <p:nvPicPr>
          <p:cNvPr id="46" name="Image 15" descr="/home/claude/pptx_proj/icons/chevron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1192" y="3598164"/>
            <a:ext cx="164592" cy="164592"/>
          </a:xfrm>
          <a:prstGeom prst="rect">
            <a:avLst/>
          </a:prstGeom>
        </p:spPr>
      </p:pic>
      <p:sp>
        <p:nvSpPr>
          <p:cNvPr id="47" name="Shape 29"/>
          <p:cNvSpPr/>
          <p:nvPr/>
        </p:nvSpPr>
        <p:spPr>
          <a:xfrm>
            <a:off x="7415784" y="2880360"/>
            <a:ext cx="1216152" cy="1600200"/>
          </a:xfrm>
          <a:prstGeom prst="roundRect">
            <a:avLst>
              <a:gd name="adj" fmla="val 6767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  <a:effectLst>
            <a:outerShdw blurRad="50800" dist="127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48" name="Shape 30"/>
          <p:cNvSpPr/>
          <p:nvPr/>
        </p:nvSpPr>
        <p:spPr>
          <a:xfrm>
            <a:off x="7786116" y="304495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9" name="Image 16" descr="/home/claude/pptx_proj/icons/tachometer_tea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8412" y="3127248"/>
            <a:ext cx="310896" cy="310896"/>
          </a:xfrm>
          <a:prstGeom prst="rect">
            <a:avLst/>
          </a:prstGeom>
        </p:spPr>
      </p:pic>
      <p:sp>
        <p:nvSpPr>
          <p:cNvPr id="50" name="Text 31"/>
          <p:cNvSpPr/>
          <p:nvPr/>
        </p:nvSpPr>
        <p:spPr>
          <a:xfrm>
            <a:off x="7452360" y="363016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3" name="Image 0" descr="/home/claude/pptx_proj/icons/cog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10896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7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Feature Pipeline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4014216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371600"/>
            <a:ext cx="457200" cy="457200"/>
          </a:xfrm>
          <a:prstGeom prst="ellipse">
            <a:avLst/>
          </a:prstGeom>
          <a:solidFill>
            <a:srgbClr val="F2F9F8"/>
          </a:solidFill>
          <a:ln/>
        </p:spPr>
      </p:sp>
      <p:pic>
        <p:nvPicPr>
          <p:cNvPr id="8" name="Image 1" descr="/home/claude/pptx_proj/icons/databas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45389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52728" y="1344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8368" y="1938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</a:t>
            </a:r>
            <a:r>
              <a:rPr lang="en-US" sz="9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CSV/Excel    </a:t>
            </a:r>
            <a:r>
              <a:rPr lang="en-US" sz="9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sz="9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58368" y="2231136"/>
            <a:ext cx="3611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healthcare &amp; genomic datasets from reliable public sources.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72584" y="1170432"/>
            <a:ext cx="4014216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73752" y="1371600"/>
            <a:ext cx="457200" cy="457200"/>
          </a:xfrm>
          <a:prstGeom prst="ellipse">
            <a:avLst/>
          </a:prstGeom>
          <a:solidFill>
            <a:srgbClr val="F2F9F8"/>
          </a:solidFill>
          <a:ln/>
        </p:spPr>
      </p:sp>
      <p:pic>
        <p:nvPicPr>
          <p:cNvPr id="14" name="Image 2" descr="/home/claude/pptx_proj/icons/filter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145389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68112" y="1344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873752" y="1938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</a:t>
            </a:r>
            <a:r>
              <a:rPr lang="en-US" sz="9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   </a:t>
            </a:r>
            <a:r>
              <a:rPr lang="en-US" sz="9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sz="9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873752" y="2231136"/>
            <a:ext cx="3611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missing values, duplicates and inconsistencies before analysis.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086100"/>
            <a:ext cx="4014216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" y="3287268"/>
            <a:ext cx="457200" cy="457200"/>
          </a:xfrm>
          <a:prstGeom prst="ellipse">
            <a:avLst/>
          </a:prstGeom>
          <a:solidFill>
            <a:srgbClr val="F2F9F8"/>
          </a:solidFill>
          <a:ln/>
        </p:spPr>
      </p:sp>
      <p:pic>
        <p:nvPicPr>
          <p:cNvPr id="20" name="Image 3" descr="/home/claude/pptx_proj/icons/cog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36956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52728" y="32598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58368" y="38541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</a:t>
            </a:r>
            <a:r>
              <a:rPr lang="en-US" sz="9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   </a:t>
            </a:r>
            <a:r>
              <a:rPr lang="en-US" sz="9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sz="9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ML-ready features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658368" y="4146804"/>
            <a:ext cx="3611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healthcare &amp; genomic data into meaningful structured features.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672584" y="3086100"/>
            <a:ext cx="4014216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73752" y="3287268"/>
            <a:ext cx="457200" cy="457200"/>
          </a:xfrm>
          <a:prstGeom prst="ellipse">
            <a:avLst/>
          </a:prstGeom>
          <a:solidFill>
            <a:srgbClr val="F2F9F8"/>
          </a:solidFill>
          <a:ln/>
        </p:spPr>
      </p:sp>
      <p:pic>
        <p:nvPicPr>
          <p:cNvPr id="26" name="Image 4" descr="/home/claude/pptx_proj/icons/dna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369564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68112" y="32598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Feature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873752" y="38541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</a:t>
            </a:r>
            <a:r>
              <a:rPr lang="en-US" sz="9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expression data    </a:t>
            </a:r>
            <a:r>
              <a:rPr lang="en-US" sz="9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sz="9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Mutation-aware features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873752" y="4146804"/>
            <a:ext cx="3611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mean, std. deviation &amp; range to flag abnormal gene activity.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3" name="Image 0" descr="/home/claude/pptx_proj/icons/cog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10896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7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Pipeline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4014216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371600"/>
            <a:ext cx="457200" cy="457200"/>
          </a:xfrm>
          <a:prstGeom prst="ellipse">
            <a:avLst/>
          </a:prstGeom>
          <a:solidFill>
            <a:srgbClr val="F2F9F8"/>
          </a:solidFill>
          <a:ln/>
        </p:spPr>
      </p:sp>
      <p:pic>
        <p:nvPicPr>
          <p:cNvPr id="8" name="Image 1" descr="/home/claude/pptx_proj/icons/exclaim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45389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52728" y="1344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8368" y="1938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</a:t>
            </a:r>
            <a:r>
              <a:rPr lang="en-US" sz="9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   </a:t>
            </a:r>
            <a:r>
              <a:rPr lang="en-US" sz="9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sz="9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feature set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58368" y="2231136"/>
            <a:ext cx="3611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outliers and abnormal patterns that could affect prediction accuracy.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72584" y="1170432"/>
            <a:ext cx="4014216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73752" y="1371600"/>
            <a:ext cx="457200" cy="457200"/>
          </a:xfrm>
          <a:prstGeom prst="ellipse">
            <a:avLst/>
          </a:prstGeom>
          <a:solidFill>
            <a:srgbClr val="F2F9F8"/>
          </a:solidFill>
          <a:ln/>
        </p:spPr>
      </p:sp>
      <p:pic>
        <p:nvPicPr>
          <p:cNvPr id="14" name="Image 2" descr="/home/claude/pptx_proj/icons/brain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145389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68112" y="1344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873752" y="1938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</a:t>
            </a:r>
            <a:r>
              <a:rPr lang="en-US" sz="9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features    </a:t>
            </a:r>
            <a:r>
              <a:rPr lang="en-US" sz="9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sz="9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ML models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873752" y="2231136"/>
            <a:ext cx="3611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classification models on healthcare and genomic data.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086100"/>
            <a:ext cx="4014216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" y="3287268"/>
            <a:ext cx="457200" cy="457200"/>
          </a:xfrm>
          <a:prstGeom prst="ellipse">
            <a:avLst/>
          </a:prstGeom>
          <a:solidFill>
            <a:srgbClr val="F2F9F8"/>
          </a:solidFill>
          <a:ln/>
        </p:spPr>
      </p:sp>
      <p:pic>
        <p:nvPicPr>
          <p:cNvPr id="20" name="Image 3" descr="/home/claude/pptx_proj/icons/layers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336956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52728" y="32598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58368" y="38541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</a:t>
            </a:r>
            <a:r>
              <a:rPr lang="en-US" sz="9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models    </a:t>
            </a:r>
            <a:r>
              <a:rPr lang="en-US" sz="9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sz="9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ensemble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658368" y="4146804"/>
            <a:ext cx="3611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Random Forest + XGBoost via soft voting for higher accuracy.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672584" y="3086100"/>
            <a:ext cx="4014216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73752" y="3287268"/>
            <a:ext cx="457200" cy="457200"/>
          </a:xfrm>
          <a:prstGeom prst="ellipse">
            <a:avLst/>
          </a:prstGeom>
          <a:solidFill>
            <a:srgbClr val="F2F9F8"/>
          </a:solidFill>
          <a:ln/>
        </p:spPr>
      </p:sp>
      <p:pic>
        <p:nvPicPr>
          <p:cNvPr id="26" name="Image 4" descr="/home/claude/pptx_proj/icons/stethoscope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3369564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68112" y="32598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Module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873752" y="38541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</a:t>
            </a:r>
            <a:r>
              <a:rPr lang="en-US" sz="9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input data    </a:t>
            </a:r>
            <a:r>
              <a:rPr lang="en-US" sz="9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sz="9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873752" y="4146804"/>
            <a:ext cx="3611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real-time disease prediction results for new patients.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3" name="Image 0" descr="/home/claude/pptx_proj/icons/cog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10896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7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&amp; Interface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170432"/>
            <a:ext cx="2609088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371600"/>
            <a:ext cx="384048" cy="384048"/>
          </a:xfrm>
          <a:prstGeom prst="ellipse">
            <a:avLst/>
          </a:prstGeom>
          <a:solidFill>
            <a:srgbClr val="F2F9F8"/>
          </a:solidFill>
          <a:ln/>
        </p:spPr>
      </p:sp>
      <p:pic>
        <p:nvPicPr>
          <p:cNvPr id="8" name="Image 1" descr="/home/claude/pptx_proj/icons/diagnose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497" y="1440729"/>
            <a:ext cx="245791" cy="2457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9576" y="1344168"/>
            <a:ext cx="1685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Prediction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58368" y="1865376"/>
            <a:ext cx="2206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</a:t>
            </a:r>
            <a:r>
              <a:rPr lang="en-US" sz="8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   </a:t>
            </a:r>
            <a:r>
              <a:rPr lang="en-US" sz="8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sz="8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results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58368" y="2121408"/>
            <a:ext cx="2206752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multiple diseases simultaneously using multi-class classification.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67456" y="1170432"/>
            <a:ext cx="2609088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68624" y="1371600"/>
            <a:ext cx="384048" cy="384048"/>
          </a:xfrm>
          <a:prstGeom prst="ellipse">
            <a:avLst/>
          </a:prstGeom>
          <a:solidFill>
            <a:srgbClr val="F2F9F8"/>
          </a:solidFill>
          <a:ln/>
        </p:spPr>
      </p:sp>
      <p:pic>
        <p:nvPicPr>
          <p:cNvPr id="14" name="Image 2" descr="/home/claude/pptx_proj/icons/clipboard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7753" y="1440729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89832" y="1344168"/>
            <a:ext cx="1685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468624" y="1865376"/>
            <a:ext cx="2206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</a:t>
            </a:r>
            <a:r>
              <a:rPr lang="en-US" sz="8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   </a:t>
            </a:r>
            <a:r>
              <a:rPr lang="en-US" sz="8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sz="8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3468624" y="2121408"/>
            <a:ext cx="2206752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accuracy, precision, recall, F1-score &amp; ROC analysis.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077712" y="1170432"/>
            <a:ext cx="2609088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78880" y="1371600"/>
            <a:ext cx="384048" cy="384048"/>
          </a:xfrm>
          <a:prstGeom prst="ellipse">
            <a:avLst/>
          </a:prstGeom>
          <a:solidFill>
            <a:srgbClr val="F2F9F8"/>
          </a:solidFill>
          <a:ln/>
        </p:spPr>
      </p:sp>
      <p:pic>
        <p:nvPicPr>
          <p:cNvPr id="20" name="Image 3" descr="/home/claude/pptx_proj/icons/chartbar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009" y="1440729"/>
            <a:ext cx="245791" cy="2457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00088" y="1344168"/>
            <a:ext cx="1685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278880" y="1865376"/>
            <a:ext cx="2206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</a:t>
            </a:r>
            <a:r>
              <a:rPr lang="en-US" sz="8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    </a:t>
            </a:r>
            <a:r>
              <a:rPr lang="en-US" sz="8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sz="8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&amp; charts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6278880" y="2121408"/>
            <a:ext cx="2206752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visual healthcare insights and analytical reports.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862328" y="3086100"/>
            <a:ext cx="2609088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063496" y="3287268"/>
            <a:ext cx="384048" cy="384048"/>
          </a:xfrm>
          <a:prstGeom prst="ellipse">
            <a:avLst/>
          </a:prstGeom>
          <a:solidFill>
            <a:srgbClr val="F2F9F8"/>
          </a:solidFill>
          <a:ln/>
        </p:spPr>
      </p:sp>
      <p:pic>
        <p:nvPicPr>
          <p:cNvPr id="26" name="Image 4" descr="/home/claude/pptx_proj/icons/tachometer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2625" y="3356397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584704" y="3259836"/>
            <a:ext cx="1685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UI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2063496" y="3781044"/>
            <a:ext cx="2206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</a:t>
            </a:r>
            <a:r>
              <a:rPr lang="en-US" sz="8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    </a:t>
            </a:r>
            <a:r>
              <a:rPr lang="en-US" sz="8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sz="8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display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2063496" y="4037076"/>
            <a:ext cx="2206752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frontend for patient input, selection &amp; result viewing.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672584" y="3086100"/>
            <a:ext cx="2609088" cy="17145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73752" y="3287268"/>
            <a:ext cx="384048" cy="384048"/>
          </a:xfrm>
          <a:prstGeom prst="ellipse">
            <a:avLst/>
          </a:prstGeom>
          <a:solidFill>
            <a:srgbClr val="F2F9F8"/>
          </a:solidFill>
          <a:ln/>
        </p:spPr>
      </p:sp>
      <p:pic>
        <p:nvPicPr>
          <p:cNvPr id="32" name="Image 5" descr="/home/claude/pptx_proj/icons/server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2881" y="3356397"/>
            <a:ext cx="245791" cy="24579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94960" y="3259836"/>
            <a:ext cx="1685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873752" y="3781044"/>
            <a:ext cx="2206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</a:t>
            </a:r>
            <a:r>
              <a:rPr lang="en-US" sz="8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requests    </a:t>
            </a:r>
            <a:r>
              <a:rPr lang="en-US" sz="8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r>
              <a:rPr lang="en-US" sz="85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responses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4873752" y="4037076"/>
            <a:ext cx="2206752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layer connecting the UI to ML prediction modules in real time.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3" name="Image 0" descr="/home/claude/pptx_proj/icons/tachometer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10896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7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Prediction Input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pic>
        <p:nvPicPr>
          <p:cNvPr id="7" name="Image 1" descr="/home/claude/pptx_proj/images/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862328"/>
            <a:ext cx="3685032" cy="1889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1792" y="142646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/>
        </p:spPr>
      </p:sp>
      <p:sp>
        <p:nvSpPr>
          <p:cNvPr id="9" name="Text 5"/>
          <p:cNvSpPr/>
          <p:nvPr/>
        </p:nvSpPr>
        <p:spPr>
          <a:xfrm>
            <a:off x="621792" y="14264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445312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 with disease selection cards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09160" y="1298448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pic>
        <p:nvPicPr>
          <p:cNvPr id="12" name="Image 2" descr="/home/claude/pptx_proj/images/predict_diabet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464" y="1851546"/>
            <a:ext cx="3685032" cy="191132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873752" y="142646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/>
        </p:spPr>
      </p:sp>
      <p:sp>
        <p:nvSpPr>
          <p:cNvPr id="14" name="Text 9"/>
          <p:cNvSpPr/>
          <p:nvPr/>
        </p:nvSpPr>
        <p:spPr>
          <a:xfrm>
            <a:off x="4873752" y="14264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PAGE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709160" y="445312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input form for diabetes prediction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3" name="Image 0" descr="/home/claude/pptx_proj/icons/chartbar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10896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7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Performance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pic>
        <p:nvPicPr>
          <p:cNvPr id="7" name="Image 1" descr="/home/claude/pptx_proj/images/predict_breastcanc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880855"/>
            <a:ext cx="3685032" cy="185270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1792" y="142646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/>
        </p:spPr>
      </p:sp>
      <p:sp>
        <p:nvSpPr>
          <p:cNvPr id="9" name="Text 5"/>
          <p:cNvSpPr/>
          <p:nvPr/>
        </p:nvSpPr>
        <p:spPr>
          <a:xfrm>
            <a:off x="621792" y="14264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PAGE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445312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result with confidence score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09160" y="1298448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7394A">
                <a:alpha val="14000"/>
              </a:srgbClr>
            </a:outerShdw>
          </a:effectLst>
        </p:spPr>
      </p:sp>
      <p:pic>
        <p:nvPicPr>
          <p:cNvPr id="12" name="Image 2" descr="/home/claude/pptx_proj/images/perf_gra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464" y="1770339"/>
            <a:ext cx="3685032" cy="207373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873752" y="142646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/>
        </p:spPr>
      </p:sp>
      <p:sp>
        <p:nvSpPr>
          <p:cNvPr id="14" name="Text 9"/>
          <p:cNvSpPr/>
          <p:nvPr/>
        </p:nvSpPr>
        <p:spPr>
          <a:xfrm>
            <a:off x="4873752" y="14264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GRAPH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709160" y="445312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comparison across diseases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3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proj/icons/dna_white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-1005840" y="1463040"/>
            <a:ext cx="3291840" cy="4023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2FBFA0"/>
          </a:solidFill>
          <a:ln/>
        </p:spPr>
      </p:sp>
      <p:pic>
        <p:nvPicPr>
          <p:cNvPr id="4" name="Image 1" descr="/home/claude/pptx_proj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512064"/>
            <a:ext cx="310896" cy="3108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98448" y="310896"/>
            <a:ext cx="7132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3886200" cy="1577340"/>
          </a:xfrm>
          <a:prstGeom prst="roundRect">
            <a:avLst>
              <a:gd name="adj" fmla="val 579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04672" y="160934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2" descr="/home/claude/pptx_proj/icons/check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1709928"/>
            <a:ext cx="301752" cy="3017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72184" y="1554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804672" y="2240280"/>
            <a:ext cx="33741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 multi-disease prediction platform with mutation-aware analysis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4709160" y="1371600"/>
            <a:ext cx="3886200" cy="1577340"/>
          </a:xfrm>
          <a:prstGeom prst="roundRect">
            <a:avLst>
              <a:gd name="adj" fmla="val 579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965192" y="160934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3" descr="/home/claude/pptx_proj/icons/cogs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1709928"/>
            <a:ext cx="301752" cy="3017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32704" y="1554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4965192" y="2240280"/>
            <a:ext cx="33741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Scikit-learn, XGBoost, FastAPI &amp; Streamlit power the full pipeline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48640" y="3223260"/>
            <a:ext cx="3886200" cy="1577340"/>
          </a:xfrm>
          <a:prstGeom prst="roundRect">
            <a:avLst>
              <a:gd name="adj" fmla="val 579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04672" y="346100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4" descr="/home/claude/pptx_proj/icons/heartbeat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" y="3561588"/>
            <a:ext cx="301752" cy="30175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72184" y="34061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804672" y="4091940"/>
            <a:ext cx="33741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accurate early detection with a genomic-level perspective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4709160" y="3223260"/>
            <a:ext cx="3886200" cy="1577340"/>
          </a:xfrm>
          <a:prstGeom prst="roundRect">
            <a:avLst>
              <a:gd name="adj" fmla="val 5797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4965192" y="346100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5" descr="/home/claude/pptx_proj/icons/hospuser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5776" y="3561588"/>
            <a:ext cx="301752" cy="30175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632704" y="34061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50" dirty="0"/>
          </a:p>
        </p:txBody>
      </p:sp>
      <p:sp>
        <p:nvSpPr>
          <p:cNvPr id="26" name="Text 18"/>
          <p:cNvSpPr/>
          <p:nvPr/>
        </p:nvSpPr>
        <p:spPr>
          <a:xfrm>
            <a:off x="4965192" y="4091940"/>
            <a:ext cx="33741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healthcare professionals, researchers &amp; academic use cases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3" name="Image 0" descr="/home/claude/pptx_proj/icons/cloud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1206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10896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7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005840" y="2788920"/>
            <a:ext cx="7132320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0120" y="2743200"/>
            <a:ext cx="91440" cy="9144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8" name="Shape 5"/>
          <p:cNvSpPr/>
          <p:nvPr/>
        </p:nvSpPr>
        <p:spPr>
          <a:xfrm>
            <a:off x="1005840" y="2468880"/>
            <a:ext cx="0" cy="320040"/>
          </a:xfrm>
          <a:prstGeom prst="line">
            <a:avLst/>
          </a:prstGeom>
          <a:noFill/>
          <a:ln w="12700">
            <a:solidFill>
              <a:srgbClr val="0F8B8D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F2F9F8"/>
          </a:solidFill>
          <a:ln w="15875">
            <a:solidFill>
              <a:srgbClr val="0F8B8D"/>
            </a:solidFill>
            <a:prstDash val="solid"/>
          </a:ln>
        </p:spPr>
      </p:sp>
      <p:pic>
        <p:nvPicPr>
          <p:cNvPr id="10" name="Image 1" descr="/home/claude/pptx_proj/icons/robo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1031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" y="144475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Healthcare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148840" y="2743200"/>
            <a:ext cx="91440" cy="9144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3" name="Shape 9"/>
          <p:cNvSpPr/>
          <p:nvPr/>
        </p:nvSpPr>
        <p:spPr>
          <a:xfrm>
            <a:off x="2194560" y="2788920"/>
            <a:ext cx="0" cy="320040"/>
          </a:xfrm>
          <a:prstGeom prst="line">
            <a:avLst/>
          </a:prstGeom>
          <a:noFill/>
          <a:ln w="12700">
            <a:solidFill>
              <a:srgbClr val="0F8B8D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1965960" y="3108960"/>
            <a:ext cx="457200" cy="457200"/>
          </a:xfrm>
          <a:prstGeom prst="ellipse">
            <a:avLst/>
          </a:prstGeom>
          <a:solidFill>
            <a:srgbClr val="F2F9F8"/>
          </a:solidFill>
          <a:ln w="15875">
            <a:solidFill>
              <a:srgbClr val="0F8B8D"/>
            </a:solidFill>
            <a:prstDash val="solid"/>
          </a:ln>
        </p:spPr>
      </p:sp>
      <p:pic>
        <p:nvPicPr>
          <p:cNvPr id="15" name="Image 2" descr="/home/claude/pptx_proj/icons/mic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32004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6210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337560" y="2743200"/>
            <a:ext cx="91440" cy="9144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8" name="Shape 13"/>
          <p:cNvSpPr/>
          <p:nvPr/>
        </p:nvSpPr>
        <p:spPr>
          <a:xfrm>
            <a:off x="3383280" y="2468880"/>
            <a:ext cx="0" cy="320040"/>
          </a:xfrm>
          <a:prstGeom prst="line">
            <a:avLst/>
          </a:prstGeom>
          <a:noFill/>
          <a:ln w="12700">
            <a:solidFill>
              <a:srgbClr val="0F8B8D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3154680" y="2011680"/>
            <a:ext cx="457200" cy="457200"/>
          </a:xfrm>
          <a:prstGeom prst="ellipse">
            <a:avLst/>
          </a:prstGeom>
          <a:solidFill>
            <a:srgbClr val="F2F9F8"/>
          </a:solidFill>
          <a:ln w="15875">
            <a:solidFill>
              <a:srgbClr val="0F8B8D"/>
            </a:solidFill>
            <a:prstDash val="solid"/>
          </a:ln>
        </p:spPr>
      </p:sp>
      <p:pic>
        <p:nvPicPr>
          <p:cNvPr id="20" name="Image 3" descr="/home/claude/pptx_proj/icons/mobile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21031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788920" y="144475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526280" y="2743200"/>
            <a:ext cx="91440" cy="9144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3" name="Shape 17"/>
          <p:cNvSpPr/>
          <p:nvPr/>
        </p:nvSpPr>
        <p:spPr>
          <a:xfrm>
            <a:off x="4572000" y="2788920"/>
            <a:ext cx="0" cy="320040"/>
          </a:xfrm>
          <a:prstGeom prst="line">
            <a:avLst/>
          </a:prstGeom>
          <a:noFill/>
          <a:ln w="12700">
            <a:solidFill>
              <a:srgbClr val="0F8B8D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4343400" y="3108960"/>
            <a:ext cx="457200" cy="457200"/>
          </a:xfrm>
          <a:prstGeom prst="ellipse">
            <a:avLst/>
          </a:prstGeom>
          <a:solidFill>
            <a:srgbClr val="F2F9F8"/>
          </a:solidFill>
          <a:ln w="15875">
            <a:solidFill>
              <a:srgbClr val="0F8B8D"/>
            </a:solidFill>
            <a:prstDash val="solid"/>
          </a:ln>
        </p:spPr>
      </p:sp>
      <p:pic>
        <p:nvPicPr>
          <p:cNvPr id="25" name="Image 4" descr="/home/claude/pptx_proj/icons/cloud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20040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77640" y="36210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715000" y="2743200"/>
            <a:ext cx="91440" cy="9144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8" name="Shape 21"/>
          <p:cNvSpPr/>
          <p:nvPr/>
        </p:nvSpPr>
        <p:spPr>
          <a:xfrm>
            <a:off x="5760720" y="2468880"/>
            <a:ext cx="0" cy="320040"/>
          </a:xfrm>
          <a:prstGeom prst="line">
            <a:avLst/>
          </a:prstGeom>
          <a:noFill/>
          <a:ln w="12700">
            <a:solidFill>
              <a:srgbClr val="0F8B8D"/>
            </a:solidFill>
            <a:prstDash val="dash"/>
          </a:ln>
        </p:spPr>
      </p:sp>
      <p:sp>
        <p:nvSpPr>
          <p:cNvPr id="29" name="Shape 22"/>
          <p:cNvSpPr/>
          <p:nvPr/>
        </p:nvSpPr>
        <p:spPr>
          <a:xfrm>
            <a:off x="5532120" y="2011680"/>
            <a:ext cx="457200" cy="457200"/>
          </a:xfrm>
          <a:prstGeom prst="ellipse">
            <a:avLst/>
          </a:prstGeom>
          <a:solidFill>
            <a:srgbClr val="F2F9F8"/>
          </a:solidFill>
          <a:ln w="15875">
            <a:solidFill>
              <a:srgbClr val="0F8B8D"/>
            </a:solidFill>
            <a:prstDash val="solid"/>
          </a:ln>
        </p:spPr>
      </p:sp>
      <p:pic>
        <p:nvPicPr>
          <p:cNvPr id="30" name="Image 5" descr="/home/claude/pptx_proj/icons/wave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210312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166360" y="144475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903720" y="2743200"/>
            <a:ext cx="91440" cy="9144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33" name="Shape 25"/>
          <p:cNvSpPr/>
          <p:nvPr/>
        </p:nvSpPr>
        <p:spPr>
          <a:xfrm>
            <a:off x="6949440" y="2788920"/>
            <a:ext cx="0" cy="320040"/>
          </a:xfrm>
          <a:prstGeom prst="line">
            <a:avLst/>
          </a:prstGeom>
          <a:noFill/>
          <a:ln w="12700">
            <a:solidFill>
              <a:srgbClr val="0F8B8D"/>
            </a:solidFill>
            <a:prstDash val="dash"/>
          </a:ln>
        </p:spPr>
      </p:sp>
      <p:sp>
        <p:nvSpPr>
          <p:cNvPr id="34" name="Shape 26"/>
          <p:cNvSpPr/>
          <p:nvPr/>
        </p:nvSpPr>
        <p:spPr>
          <a:xfrm>
            <a:off x="6720840" y="3108960"/>
            <a:ext cx="457200" cy="457200"/>
          </a:xfrm>
          <a:prstGeom prst="ellipse">
            <a:avLst/>
          </a:prstGeom>
          <a:solidFill>
            <a:srgbClr val="F2F9F8"/>
          </a:solidFill>
          <a:ln w="15875">
            <a:solidFill>
              <a:srgbClr val="0F8B8D"/>
            </a:solidFill>
            <a:prstDash val="solid"/>
          </a:ln>
        </p:spPr>
      </p:sp>
      <p:pic>
        <p:nvPicPr>
          <p:cNvPr id="35" name="Image 6" descr="/home/claude/pptx_proj/icons/dna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3200400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355080" y="36210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Genomic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8092440" y="2743200"/>
            <a:ext cx="91440" cy="9144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38" name="Shape 29"/>
          <p:cNvSpPr/>
          <p:nvPr/>
        </p:nvSpPr>
        <p:spPr>
          <a:xfrm>
            <a:off x="8138160" y="2468880"/>
            <a:ext cx="0" cy="320040"/>
          </a:xfrm>
          <a:prstGeom prst="line">
            <a:avLst/>
          </a:prstGeom>
          <a:noFill/>
          <a:ln w="12700">
            <a:solidFill>
              <a:srgbClr val="0F8B8D"/>
            </a:solidFill>
            <a:prstDash val="dash"/>
          </a:ln>
        </p:spPr>
      </p:sp>
      <p:sp>
        <p:nvSpPr>
          <p:cNvPr id="39" name="Shape 30"/>
          <p:cNvSpPr/>
          <p:nvPr/>
        </p:nvSpPr>
        <p:spPr>
          <a:xfrm>
            <a:off x="7909560" y="2011680"/>
            <a:ext cx="457200" cy="457200"/>
          </a:xfrm>
          <a:prstGeom prst="ellipse">
            <a:avLst/>
          </a:prstGeom>
          <a:solidFill>
            <a:srgbClr val="F2F9F8"/>
          </a:solidFill>
          <a:ln w="15875">
            <a:solidFill>
              <a:srgbClr val="0F8B8D"/>
            </a:solidFill>
            <a:prstDash val="solid"/>
          </a:ln>
        </p:spPr>
      </p:sp>
      <p:pic>
        <p:nvPicPr>
          <p:cNvPr id="40" name="Image 7" descr="/home/claude/pptx_proj/icons/usermd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0" y="2103120"/>
            <a:ext cx="274320" cy="27432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543800" y="144475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7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940</Words>
  <Application>Microsoft Office PowerPoint</Application>
  <PresentationFormat>On-screen Show (16:9)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Learning-Based Disease Prediction with Mutation Awareness</dc:title>
  <dc:subject>PptxGenJS Presentation</dc:subject>
  <dc:creator>Student</dc:creator>
  <cp:lastModifiedBy>nandini p.v</cp:lastModifiedBy>
  <cp:revision>4</cp:revision>
  <dcterms:created xsi:type="dcterms:W3CDTF">2026-07-02T07:32:28Z</dcterms:created>
  <dcterms:modified xsi:type="dcterms:W3CDTF">2026-07-02T16:05:16Z</dcterms:modified>
</cp:coreProperties>
</file>